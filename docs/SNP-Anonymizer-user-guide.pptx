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ef98c28bb340c2" /><Relationship Type="http://schemas.openxmlformats.org/officeDocument/2006/relationships/extended-properties" Target="/docProps/app.xml" Id="R87c682bcda33415e" /><Relationship Type="http://schemas.openxmlformats.org/officeDocument/2006/relationships/officeDocument" Target="/ppt/presentation.xml" Id="R2802fb32b0014c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f58cbd9e7c40c8"/>
  </p:sldMasterIdLst>
  <p:notesMasterIdLst>
    <p:notesMasterId xmlns:r="http://schemas.openxmlformats.org/officeDocument/2006/relationships" r:id="R05fbe68bfea84f3f"/>
  </p:notesMasterIdLst>
  <p:sldIdLst>
    <p:sldId xmlns:r="http://schemas.openxmlformats.org/officeDocument/2006/relationships" id="256" r:id="R17587a7dae824998"/>
    <p:sldId xmlns:r="http://schemas.openxmlformats.org/officeDocument/2006/relationships" id="257" r:id="Rd0f667de3a7149e9"/>
    <p:sldId xmlns:r="http://schemas.openxmlformats.org/officeDocument/2006/relationships" id="258" r:id="R9ea1e62f9bd145a3"/>
    <p:sldId xmlns:r="http://schemas.openxmlformats.org/officeDocument/2006/relationships" id="259" r:id="R5bcc17d7eb0d453a"/>
    <p:sldId xmlns:r="http://schemas.openxmlformats.org/officeDocument/2006/relationships" id="260" r:id="Rf6314957a5ff4a51"/>
    <p:sldId xmlns:r="http://schemas.openxmlformats.org/officeDocument/2006/relationships" id="261" r:id="R16763cc040a5472c"/>
    <p:sldId xmlns:r="http://schemas.openxmlformats.org/officeDocument/2006/relationships" id="262" r:id="Re9de793c95554fb7"/>
    <p:sldId xmlns:r="http://schemas.openxmlformats.org/officeDocument/2006/relationships" id="263" r:id="Rc1d15bc7fbd749e9"/>
    <p:sldId xmlns:r="http://schemas.openxmlformats.org/officeDocument/2006/relationships" id="264" r:id="R6392d2d789b549ed"/>
    <p:sldId xmlns:r="http://schemas.openxmlformats.org/officeDocument/2006/relationships" id="265" r:id="R31d933b3e2274bf4"/>
    <p:sldId xmlns:r="http://schemas.openxmlformats.org/officeDocument/2006/relationships" id="266" r:id="R7ed0a19d83fa4dd3"/>
    <p:sldId xmlns:r="http://schemas.openxmlformats.org/officeDocument/2006/relationships" id="267" r:id="R20c9456933214259"/>
    <p:sldId xmlns:r="http://schemas.openxmlformats.org/officeDocument/2006/relationships" id="268" r:id="Ra3bb676cc7ff449f"/>
    <p:sldId xmlns:r="http://schemas.openxmlformats.org/officeDocument/2006/relationships" id="269" r:id="R7086ccaa3a7948f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a4e9c6ae9940e2" /><Relationship Type="http://schemas.openxmlformats.org/officeDocument/2006/relationships/slideMaster" Target="/ppt/slideMasters/slideMaster1.xml" Id="Ra3f58cbd9e7c40c8" /><Relationship Type="http://schemas.openxmlformats.org/officeDocument/2006/relationships/notesMaster" Target="/ppt/notesMasters/notesMaster1.xml" Id="R05fbe68bfea84f3f" /><Relationship Type="http://schemas.openxmlformats.org/officeDocument/2006/relationships/presProps" Target="/ppt/presProps.xml" Id="R4d846096d18843e1" /><Relationship Type="http://schemas.openxmlformats.org/officeDocument/2006/relationships/viewProps" Target="/ppt/viewProps.xml" Id="R9a04f8d5ab3e47a9" /><Relationship Type="http://schemas.openxmlformats.org/officeDocument/2006/relationships/tableStyles" Target="/ppt/tableStyles.xml" Id="R3f3adfbe140a4ec2" /><Relationship Type="http://schemas.openxmlformats.org/officeDocument/2006/relationships/slide" Target="/ppt/slides/slide1.xml" Id="R17587a7dae824998" /><Relationship Type="http://schemas.openxmlformats.org/officeDocument/2006/relationships/slide" Target="/ppt/slides/slide2.xml" Id="Rd0f667de3a7149e9" /><Relationship Type="http://schemas.openxmlformats.org/officeDocument/2006/relationships/slide" Target="/ppt/slides/slide3.xml" Id="R9ea1e62f9bd145a3" /><Relationship Type="http://schemas.openxmlformats.org/officeDocument/2006/relationships/slide" Target="/ppt/slides/slide4.xml" Id="R5bcc17d7eb0d453a" /><Relationship Type="http://schemas.openxmlformats.org/officeDocument/2006/relationships/slide" Target="/ppt/slides/slide5.xml" Id="Rf6314957a5ff4a51" /><Relationship Type="http://schemas.openxmlformats.org/officeDocument/2006/relationships/slide" Target="/ppt/slides/slide6.xml" Id="R16763cc040a5472c" /><Relationship Type="http://schemas.openxmlformats.org/officeDocument/2006/relationships/slide" Target="/ppt/slides/slide7.xml" Id="Re9de793c95554fb7" /><Relationship Type="http://schemas.openxmlformats.org/officeDocument/2006/relationships/slide" Target="/ppt/slides/slide8.xml" Id="Rc1d15bc7fbd749e9" /><Relationship Type="http://schemas.openxmlformats.org/officeDocument/2006/relationships/slide" Target="/ppt/slides/slide9.xml" Id="R6392d2d789b549ed" /><Relationship Type="http://schemas.openxmlformats.org/officeDocument/2006/relationships/slide" Target="/ppt/slides/slide10.xml" Id="R31d933b3e2274bf4" /><Relationship Type="http://schemas.openxmlformats.org/officeDocument/2006/relationships/slide" Target="/ppt/slides/slide11.xml" Id="R7ed0a19d83fa4dd3" /><Relationship Type="http://schemas.openxmlformats.org/officeDocument/2006/relationships/slide" Target="/ppt/slides/slide12.xml" Id="R20c9456933214259" /><Relationship Type="http://schemas.openxmlformats.org/officeDocument/2006/relationships/slide" Target="/ppt/slides/slide13.xml" Id="Ra3bb676cc7ff449f" /><Relationship Type="http://schemas.openxmlformats.org/officeDocument/2006/relationships/slide" Target="/ppt/slides/slide14.xml" Id="R7086ccaa3a7948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acd7f808b24b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668FE"/>
      </a:dk2>
      <a:lt2>
        <a:srgbClr val="04153A"/>
      </a:lt2>
      <a:accent1>
        <a:srgbClr val="EC0183"/>
      </a:accent1>
      <a:accent2>
        <a:srgbClr val="A5236B"/>
      </a:accent2>
      <a:accent3>
        <a:srgbClr val="FF0017"/>
      </a:accent3>
      <a:accent4>
        <a:srgbClr val="FF8C00"/>
      </a:accent4>
      <a:accent5>
        <a:srgbClr val="A0A9B7"/>
      </a:accent5>
      <a:accent6>
        <a:srgbClr val="F3F6FB"/>
      </a:accent6>
      <a:hlink>
        <a:srgbClr val="EC0183"/>
      </a:hlink>
      <a:folHlink>
        <a:srgbClr val="A5236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df0e235f914eb3" /><Relationship Type="http://schemas.openxmlformats.org/officeDocument/2006/relationships/notesMaster" Target="/ppt/notesMasters/notesMaster1.xml" Id="R41455fe75a7c4d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f5bf1a96754e53" /><Relationship Type="http://schemas.openxmlformats.org/officeDocument/2006/relationships/notesMaster" Target="/ppt/notesMasters/notesMaster1.xml" Id="R9d419e5db97843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ed617e7fe448b9" /><Relationship Type="http://schemas.openxmlformats.org/officeDocument/2006/relationships/notesMaster" Target="/ppt/notesMasters/notesMaster1.xml" Id="Rdfa2647026d148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103408f2ae4625" /><Relationship Type="http://schemas.openxmlformats.org/officeDocument/2006/relationships/notesMaster" Target="/ppt/notesMasters/notesMaster1.xml" Id="R9091a4bd93a544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c66871f471451e" /><Relationship Type="http://schemas.openxmlformats.org/officeDocument/2006/relationships/notesMaster" Target="/ppt/notesMasters/notesMaster1.xml" Id="Rfb648c744e3345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be332124cb45b3" /><Relationship Type="http://schemas.openxmlformats.org/officeDocument/2006/relationships/notesMaster" Target="/ppt/notesMasters/notesMaster1.xml" Id="R01bac8c4173143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185e7619714c0e" /><Relationship Type="http://schemas.openxmlformats.org/officeDocument/2006/relationships/notesMaster" Target="/ppt/notesMasters/notesMaster1.xml" Id="R9a127509ef414f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0d7f8d595a4e96" /><Relationship Type="http://schemas.openxmlformats.org/officeDocument/2006/relationships/notesMaster" Target="/ppt/notesMasters/notesMaster1.xml" Id="R1d3aad4ceecf4f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081ccb04bb4206" /><Relationship Type="http://schemas.openxmlformats.org/officeDocument/2006/relationships/notesMaster" Target="/ppt/notesMasters/notesMaster1.xml" Id="R6734fdf99a7e40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02d31c6d654ee4" /><Relationship Type="http://schemas.openxmlformats.org/officeDocument/2006/relationships/notesMaster" Target="/ppt/notesMasters/notesMaster1.xml" Id="R102d396c86a64f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0f50b13eac412b" /><Relationship Type="http://schemas.openxmlformats.org/officeDocument/2006/relationships/notesMaster" Target="/ppt/notesMasters/notesMaster1.xml" Id="R2d95e4b2f8b04a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647ba37b8a4a05" /><Relationship Type="http://schemas.openxmlformats.org/officeDocument/2006/relationships/notesMaster" Target="/ppt/notesMasters/notesMaster1.xml" Id="R221bcced943445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1951d31fbf47ef" /><Relationship Type="http://schemas.openxmlformats.org/officeDocument/2006/relationships/notesMaster" Target="/ppt/notesMasters/notesMaster1.xml" Id="R460aa3b043db40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37a3d0ddc14459" /><Relationship Type="http://schemas.openxmlformats.org/officeDocument/2006/relationships/notesMaster" Target="/ppt/notesMasters/notesMaster1.xml" Id="R32c0378fb4ae41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Инструкция для пользователя файлового режима. PostgreSQL вынесен в отдельные необязательные шаги. Пакет приложения предоставляет ответственный за инструмент.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SNP Anonymizer, commit 402812db22894fca6ad806d21e73a5c505d88e3b, src/anonymizer/gui.py, src/anonymizer/help_text.py, README.md. Скриншоты текущего приложения на синтетическом примере: 1 таблица, 2 строки. Клиентские данные не использованы. Шаблон: белые фирменные кадры In.Plan из white-frames.pptx (13.10.2026).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SNP Anonymizer, commit 402812db22894fca6ad806d21e73a5c505d88e3b, src/anonymizer/gui.py, src/anonymizer/help_text.py, README.md. Скриншоты текущего приложения на синтетическом примере: 1 таблица, 2 строки. Клиентские данные не использованы. Шаблон: белые фирменные кадры In.Plan из white-frames.pptx (13.10.2026).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Кнопка SQL… принимает также ZIP. Выбрать… выбирает родительскую папку, а приложение подставляет новую подпапку с датой и временем. Не выбирайте существующий каталог как конечный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SNP Anonymizer, commit 402812db22894fca6ad806d21e73a5c505d88e3b, src/anonymizer/gui.py, src/anonymizer/help_text.py, README.md. Скриншоты текущего приложения на синтетическом примере: 1 таблица, 2 строки. Клиентские данные не использованы. Шаблон: белые фирменные кадры In.Plan из white-frames.pptx (13.10.2026).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Новый… задаёт имя нового проекта. Проект создаётся во время обработки. Открыть… читает настройки существующего проекта, включая зафиксированную отрасль. Excel-карта необязательна и должна находиться вне результата.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SNP Anonymizer, commit 402812db22894fca6ad806d21e73a5c505d88e3b, src/anonymizer/gui.py, src/anonymizer/help_text.py, README.md. Скриншоты текущего приложения на синтетическом примере: 1 таблица, 2 строки. Клиентские данные не использованы. Шаблон: белые фирменные кадры In.Plan из white-frames.pptx (13.10.2026).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нового проекта выберите отрасль до запуска. Существующий проект сохраняет свою отрасль. Разделитель Авто подходит для автоопределения CSV. SQL-схемы перечисляются через запятую, пустое поле означает все.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SNP Anonymizer, commit 402812db22894fca6ad806d21e73a5c505d88e3b, src/anonymizer/gui.py, src/anonymizer/help_text.py, README.md. Скриншоты текущего приложения на синтетическом примере: 1 таблица, 2 строки. Клиентские данные не использованы. Шаблон: белые фирменные кадры In.Plan из white-frames.pptx (13.10.2026).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файлового режима блок PostgreSQL выключен. Отмена до PG-фиксации останавливает обработку, но после начала фиксации гарантии отката нет. Не обещать, что любой момент отмены откатит PG.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SNP Anonymizer, commit 402812db22894fca6ad806d21e73a5c505d88e3b, src/anonymizer/gui.py, src/anonymizer/help_text.py, README.md. Скриншоты текущего приложения на синтетическом примере: 1 таблица, 2 строки. Клиентские данные не использованы. Шаблон: белые фирменные кадры In.Plan из white-frames.pptx (13.10.2026).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получен после фактического успешного GUI-прогона synthetic: 1 таблица, 2 строки. Числа на скриншоте относятся только к этому примеру. dump.sql содержит реконструированные схемы/таблицы и данные, inserts.sql — данные для существующих таблиц.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SNP Anonymizer, commit 402812db22894fca6ad806d21e73a5c505d88e3b, src/anonymizer/gui.py, src/anonymizer/help_text.py, README.md. Скриншоты текущего приложения на синтетическом примере: 1 таблица, 2 строки. Клиентские данные не использованы. Шаблон: белые фирменные кадры In.Plan из white-frames.pptx (13.10.2026).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report.json: validation.preserved_fields_equal, счетчики ключей и FK до/после, непроверенные связи и skipped_tables. Приложение не исправляет исходные дефекты данных. Журнал CSV не входит в пакет, доступен также после ошибок и отмены.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SNP Anonymizer, commit 402812db22894fca6ad806d21e73a5c505d88e3b, src/anonymizer/gui.py, src/anonymizer/help_text.py, README.md. Скриншоты текущего приложения на синтетическом примере: 1 таблица, 2 строки. Клиентские данные не использованы. Шаблон: белые фирменные кадры In.Plan из white-frames.pptx (13.10.2026).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Отрасль фиксируется в проекте и не меняется. Проект хранит исходные значения и карту замен. Новая выгрузка с тем же проектом получает стабильные замены. Новую папку результата нужно выбирать при каждом прогоне.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SNP Anonymizer, commit 402812db22894fca6ad806d21e73a5c505d88e3b, src/anonymizer/gui.py, src/anonymizer/help_text.py, README.md. Скриншоты текущего приложения на синтетическом примере: 1 таблица, 2 строки. Клиентские данные не использованы. Шаблон: белые фирменные кадры In.Plan из white-frames.pptx (13.10.2026).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Skip применяется к табличным ошибкам входа целиком. Ошибки замены значений и внесенные обработкой расхождения целостности остаются фатальными. Ошибка загрузки любой таблицы в PostgreSQL откатывает весь набор независимо от галки.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SNP Anonymizer, commit 402812db22894fca6ad806d21e73a5c505d88e3b, src/anonymizer/gui.py, src/anonymizer/help_text.py, README.md. Скриншоты текущего приложения на синтетическом примере: 1 таблица, 2 строки. Клиентские данные не использованы. Шаблон: белые фирменные кадры In.Plan из white-frames.pptx (13.10.2026).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PG включается до запуска основного процесса, а фактическая загрузка идёт только после локальной обработки и проверок. Таблицы уже должны существовать в указанной схеме. Приложение не создает таблицы. Пароль не сохраняется.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SNP Anonymizer, commit 402812db22894fca6ad806d21e73a5c505d88e3b, src/anonymizer/gui.py, src/anonymizer/help_text.py, README.md. Скриншоты текущего приложения на синтетическом примере: 1 таблица, 2 строки. Клиентские данные не использованы. Шаблон: белые фирменные кадры In.Plan из white-frames.pptx (13.10.2026).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PG выполняется в одной транзакции: TRUNCATE только таблиц датасета без CASCADE + COPY. Ошибка/отмена до начала фиксации откатывает набор. Файлы и PG не образуют общей транзакции. При неизвестном исходе фиксации пакет/проект/Excel остаются. Не повторять загрузку вслепую. Предупреждение о не обновленном report.json после committed в журнале возможно.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SNP Anonymizer, commit 402812db22894fca6ad806d21e73a5c505d88e3b, src/anonymizer/gui.py, src/anonymizer/help_text.py, README.md. Скриншоты текущего приложения на синтетическом примере: 1 таблица, 2 строки. Клиентские данные не использованы. Шаблон: белые фирменные кадры In.Plan из white-frames.pptx (13.10.2026).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Проект и Excel-карта содержат исходные значения и не входят в обезличенный пакет. CSV-журнал отдельный, содержит технические имена и счетчики без клиентских значений. Получателю передают только проверенный пакет; ненужные внутренние артефакты остаются у владельца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SNP Anonymizer, commit 402812db22894fca6ad806d21e73a5c505d88e3b, src/anonymizer/gui.py, src/anonymizer/help_text.py, README.md. Скриншоты текущего приложения на синтетическом примере: 1 таблица, 2 строки. Клиентские данные не использованы. Шаблон: белые фирменные кадры In.Plan из white-frames.pptx (13.10.2026).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SNP Anonymizer, commit 402812db22894fca6ad806d21e73a5c505d88e3b, src/anonymizer/gui.py, src/anonymizer/help_text.py, README.md. Скриншоты текущего приложения на синтетическом примере: 1 таблица, 2 строки. Клиентские данные не использованы. Шаблон: белые фирменные кадры In.Plan из white-frames.pptx (13.10.2026).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7bb445576a4989" /><Relationship Type="http://schemas.openxmlformats.org/officeDocument/2006/relationships/image" Target="/ppt/media/image.png" Id="R4fd0113661c84e0a" /><Relationship Type="http://schemas.openxmlformats.org/officeDocument/2006/relationships/image" Target="/ppt/media/image2.png" Id="R2dfb0cc854b24d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b76858ebc84a81" /><Relationship Type="http://schemas.openxmlformats.org/officeDocument/2006/relationships/image" Target="/ppt/media/image.png" Id="R2db1e5464ade40d7" /><Relationship Type="http://schemas.openxmlformats.org/officeDocument/2006/relationships/image" Target="/ppt/media/image.jpeg" Id="Rc0c83da0d76e4df8" /><Relationship Type="http://schemas.openxmlformats.org/officeDocument/2006/relationships/image" Target="/ppt/media/image2.png" Id="R50d1e062803a4a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a85bde465643a4" /><Relationship Type="http://schemas.openxmlformats.org/officeDocument/2006/relationships/image" Target="/ppt/media/image.emf" Id="R2ee067c3740c4926" /><Relationship Type="http://schemas.openxmlformats.org/officeDocument/2006/relationships/image" Target="/ppt/media/image2.emf" Id="Rbea587f4726146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578c652564746" /><Relationship Type="http://schemas.openxmlformats.org/officeDocument/2006/relationships/image" Target="/ppt/media/image.emf" Id="R678ceba7e7724866" /><Relationship Type="http://schemas.openxmlformats.org/officeDocument/2006/relationships/image" Target="/ppt/media/image2.emf" Id="R2ef8502c54eb4111" /><Relationship Type="http://schemas.openxmlformats.org/officeDocument/2006/relationships/image" Target="/ppt/media/image.jpeg" Id="R80d9d87086644d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b91b2f83c404d" /><Relationship Type="http://schemas.openxmlformats.org/officeDocument/2006/relationships/image" Target="/ppt/media/image.emf" Id="R1022c74ca7d546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de66bda1104f9a" /><Relationship Type="http://schemas.openxmlformats.org/officeDocument/2006/relationships/image" Target="/ppt/media/image.png" Id="R0d12389da45b4c8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934393d2d486f" /><Relationship Type="http://schemas.openxmlformats.org/officeDocument/2006/relationships/image" Target="/ppt/media/image3.emf" Id="R5a29297df46547ec" /><Relationship Type="http://schemas.openxmlformats.org/officeDocument/2006/relationships/image" Target="/ppt/media/image.emf" Id="R4cc0931c58494cc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5801bea344b35" /><Relationship Type="http://schemas.openxmlformats.org/officeDocument/2006/relationships/image" Target="/ppt/media/image4.emf" Id="Rb6d9ca30b887434c" /><Relationship Type="http://schemas.openxmlformats.org/officeDocument/2006/relationships/image" Target="/ppt/media/image.png" Id="R62a0253d1a1e493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fe10e4a8b44a26" /><Relationship Type="http://schemas.openxmlformats.org/officeDocument/2006/relationships/image" Target="/ppt/media/image5.emf" Id="R7150f0346b974fb1" /><Relationship Type="http://schemas.openxmlformats.org/officeDocument/2006/relationships/image" Target="/ppt/media/image.png" Id="R15074cb4e8134f0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f9d269061e4a0c" /><Relationship Type="http://schemas.openxmlformats.org/officeDocument/2006/relationships/image" Target="/ppt/media/image6.emf" Id="R2b068c7366e948bf" /><Relationship Type="http://schemas.openxmlformats.org/officeDocument/2006/relationships/image" Target="/ppt/media/image.png" Id="R4375d856552c42a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8e546c314494b" /><Relationship Type="http://schemas.openxmlformats.org/officeDocument/2006/relationships/image" Target="/ppt/media/image7.emf" Id="Ref564a45c37c4223" /><Relationship Type="http://schemas.openxmlformats.org/officeDocument/2006/relationships/image" Target="/ppt/media/image.png" Id="R4b0d88db444b4f3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464e9d94a842c3" /><Relationship Type="http://schemas.openxmlformats.org/officeDocument/2006/relationships/image" Target="/ppt/media/image8.emf" Id="R336229bca9514650" /><Relationship Type="http://schemas.openxmlformats.org/officeDocument/2006/relationships/image" Target="/ppt/media/image.png" Id="Refed99872353445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35E7D7D-88C5-8C86-5355-D620457C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43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51931-13B8-EA81-74A8-52D75249C0E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83870" y="2739373"/>
            <a:ext cx="7414260" cy="76963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l">
              <a:buNone/>
              <a:defRPr sz="3500" b="1">
                <a:solidFill>
                  <a:schemeClr val="bg1"/>
                </a:solidFill>
                <a:latin typeface="Manrope"/>
                <a:ea typeface="Manrope"/>
                <a:cs typeface="Manrope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FE54C9A-2E18-BEE9-1490-16373B9D74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83870" y="3573800"/>
            <a:ext cx="3665220" cy="69564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2000">
                <a:solidFill>
                  <a:schemeClr val="bg1"/>
                </a:solidFill>
                <a:latin typeface="Manrope"/>
                <a:ea typeface="Manrope"/>
                <a:cs typeface="Manrop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11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0AEA54-383F-4E71-A209-DBC364ED5D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28320" y="6061710"/>
            <a:ext cx="114046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1200">
                <a:solidFill>
                  <a:schemeClr val="bg1"/>
                </a:solidFill>
                <a:latin typeface="Manrope"/>
                <a:ea typeface="Manrope"/>
                <a:cs typeface="Manrope"/>
              </a:defRPr>
            </a:lvl1pPr>
          </a:lstStyle>
          <a:p xmlns:a="http://schemas.openxmlformats.org/drawingml/2006/main">
            <a:fld id="{186B0DE7-2515-934C-9DE9-468F3F19B93B}" type="datetime1">
              <a:t>18.08.2026</a:t>
            </a:fld>
            <a:endParaRPr/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A8C7272E-3C68-42AD-8439-7FCA93BB3B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0113661c84e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020" y="483870"/>
            <a:ext cx="3082290" cy="671781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8B96532-0764-8CF4-7B5D-47850F89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619" y="282625"/>
            <a:ext cx="2608897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>
                <a:solidFill>
                  <a:schemeClr val="bg1"/>
                </a:solidFill>
                <a:latin typeface="Manrope"/>
                <a:ea typeface="Manrope"/>
                <a:cs typeface="Manrope"/>
              </a:rPr>
              <a:t>Платформа</a:t>
            </a:r>
            <a:endParaRPr>
              <a:solidFill>
                <a:schemeClr val="bg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algn="r">
              <a:buNone/>
            </a:pPr>
            <a:r>
              <a:rPr>
                <a:solidFill>
                  <a:schemeClr val="bg1"/>
                </a:solidFill>
                <a:latin typeface="Manrope"/>
                <a:ea typeface="Manrope"/>
                <a:cs typeface="Manrope"/>
              </a:rPr>
              <a:t>интегрированного</a:t>
            </a:r>
          </a:p>
          <a:p xmlns:a="http://schemas.openxmlformats.org/drawingml/2006/main">
            <a:pPr algn="r">
              <a:buNone/>
            </a:pPr>
            <a:r>
              <a:rPr>
                <a:solidFill>
                  <a:schemeClr val="bg1"/>
                </a:solidFill>
                <a:latin typeface="Manrope"/>
                <a:ea typeface="Manrope"/>
                <a:cs typeface="Manrope"/>
              </a:rPr>
              <a:t>планирования</a:t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CF5BFA34-45ED-4883-98E1-18D7A26582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b0cc854b24d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0630" y="5912100"/>
            <a:ext cx="5871210" cy="518477"/>
          </a:xfrm>
          <a:prstGeom xmlns:a="http://schemas.openxmlformats.org/drawingml/2006/main" prst="rect">
            <a:avLst/>
          </a:prstGeom>
        </p:spPr>
      </p:pic>
      <p:sp>
        <p:nvSpPr>
          <p:cNvPr id="15" name="Round Single Corner of Rectangle 14">
            <a:extLst xmlns:a="http://schemas.openxmlformats.org/drawingml/2006/main">
              <a:ext uri="{FF2B5EF4-FFF2-40B4-BE49-F238E27FC236}">
                <a16:creationId xmlns:a16="http://schemas.microsoft.com/office/drawing/2014/main" id="{1EA5068B-6876-6B61-E09A-2B2E5D2F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464290" y="0"/>
            <a:ext cx="727710" cy="6858000"/>
          </a:xfrm>
          <a:prstGeom xmlns:a="http://schemas.openxmlformats.org/drawingml/2006/main" prst="round1Rect">
            <a:avLst>
              <a:gd name="adj" fmla="val 50000"/>
            </a:avLst>
          </a:prstGeom>
          <a:solidFill xmlns:a="http://schemas.openxmlformats.org/drawingml/2006/main">
            <a:srgbClr val="4769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31752-6040-F00C-D882-7A6CA1A9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43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6033E4D2-E92E-4CCC-8708-4B759DD016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1e5464ade40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020" y="483870"/>
            <a:ext cx="3082290" cy="671781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51931-13B8-EA81-74A8-52D75249C0E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83870" y="2739373"/>
            <a:ext cx="7414260" cy="76963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l">
              <a:buNone/>
              <a:defRPr sz="3500" b="1">
                <a:solidFill>
                  <a:schemeClr val="bg1"/>
                </a:solidFill>
                <a:latin typeface="Manrope"/>
                <a:ea typeface="Manrope"/>
                <a:cs typeface="Manrope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FE54C9A-2E18-BEE9-1490-16373B9D74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83870" y="3573800"/>
            <a:ext cx="3665220" cy="69564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2000">
                <a:solidFill>
                  <a:schemeClr val="bg1"/>
                </a:solidFill>
                <a:latin typeface="Manrope"/>
                <a:ea typeface="Manrope"/>
                <a:cs typeface="Manrop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11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0AEA54-383F-4E71-A209-DBC364ED5D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83870" y="4427220"/>
            <a:ext cx="114046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1200">
                <a:solidFill>
                  <a:schemeClr val="bg1"/>
                </a:solidFill>
                <a:latin typeface="Manrope"/>
                <a:ea typeface="Manrope"/>
                <a:cs typeface="Manrope"/>
              </a:defRPr>
            </a:lvl1pPr>
          </a:lstStyle>
          <a:p xmlns:a="http://schemas.openxmlformats.org/drawingml/2006/main">
            <a:fld id="{186B0DE7-2515-934C-9DE9-468F3F19B93B}" type="datetime1">
              <a:t>18.08.2026</a:t>
            </a:fld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8B96532-0764-8CF4-7B5D-47850F89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619" y="282625"/>
            <a:ext cx="2608897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>
                <a:solidFill>
                  <a:schemeClr val="bg1"/>
                </a:solidFill>
                <a:latin typeface="Manrope"/>
                <a:ea typeface="Manrope"/>
                <a:cs typeface="Manrope"/>
              </a:rPr>
              <a:t>Платформа</a:t>
            </a:r>
            <a:endParaRPr>
              <a:solidFill>
                <a:schemeClr val="bg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algn="r">
              <a:buNone/>
            </a:pPr>
            <a:r>
              <a:rPr>
                <a:solidFill>
                  <a:schemeClr val="bg1"/>
                </a:solidFill>
                <a:latin typeface="Manrope"/>
                <a:ea typeface="Manrope"/>
                <a:cs typeface="Manrope"/>
              </a:rPr>
              <a:t>интегрированного</a:t>
            </a:r>
          </a:p>
          <a:p xmlns:a="http://schemas.openxmlformats.org/drawingml/2006/main">
            <a:pPr algn="r">
              <a:buNone/>
            </a:pPr>
            <a:r>
              <a:rPr>
                <a:solidFill>
                  <a:schemeClr val="bg1"/>
                </a:solidFill>
                <a:latin typeface="Manrope"/>
                <a:ea typeface="Manrope"/>
                <a:cs typeface="Manrope"/>
              </a:rPr>
              <a:t>планирования</a:t>
            </a:r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847CD104-1F31-47F0-8331-27CAB05A25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83da0d76e4df8"/>
          <a:srcRect xmlns:a="http://schemas.openxmlformats.org/drawingml/2006/main" l="22112" t="21594" r="18870" b="33044"/>
          <a:stretch xmlns:a="http://schemas.openxmlformats.org/drawingml/2006/main"/>
        </p:blipFill>
        <p:spPr>
          <a:xfrm xmlns:a="http://schemas.openxmlformats.org/drawingml/2006/main" rot="5400000" flipV="1">
            <a:off x="7005919" y="1671917"/>
            <a:ext cx="6858000" cy="3514166"/>
          </a:xfrm>
          <a:prstGeom xmlns:a="http://schemas.openxmlformats.org/drawingml/2006/main" prst="round1Rect">
            <a:avLst>
              <a:gd name="adj" fmla="val 44297"/>
            </a:avLst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25AEEE9A-4E62-4E8E-808F-5C4B60788B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1e062803a4a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524" y="5912100"/>
            <a:ext cx="5871210" cy="51847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35E7D7D-88C5-8C86-5355-D620457C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51931-13B8-EA81-74A8-52D75249C0E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83870" y="2739373"/>
            <a:ext cx="7414260" cy="76963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l">
              <a:buNone/>
              <a:defRPr sz="3500" b="1">
                <a:solidFill>
                  <a:srgbClr val="4769FF"/>
                </a:solidFill>
                <a:latin typeface="Manrope"/>
                <a:ea typeface="Manrope"/>
                <a:cs typeface="Manrope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FE54C9A-2E18-BEE9-1490-16373B9D74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83870" y="3573800"/>
            <a:ext cx="3665220" cy="69564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2000">
                <a:solidFill>
                  <a:srgbClr val="04143A"/>
                </a:solidFill>
                <a:latin typeface="Manrope"/>
                <a:ea typeface="Manrope"/>
                <a:cs typeface="Manrop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11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0AEA54-383F-4E71-A209-DBC364ED5D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83870" y="6061710"/>
            <a:ext cx="114046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1200">
                <a:solidFill>
                  <a:srgbClr val="04143A"/>
                </a:solidFill>
                <a:latin typeface="Manrope"/>
                <a:ea typeface="Manrope"/>
                <a:cs typeface="Manrope"/>
              </a:defRPr>
            </a:lvl1pPr>
          </a:lstStyle>
          <a:p xmlns:a="http://schemas.openxmlformats.org/drawingml/2006/main">
            <a:fld id="{186B0DE7-2515-934C-9DE9-468F3F19B93B}" type="datetime1">
              <a:t>18.08.2026</a:t>
            </a:fld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8B96532-0764-8CF4-7B5D-47850F89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619" y="282625"/>
            <a:ext cx="2608897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>
                <a:solidFill>
                  <a:schemeClr val="bg1"/>
                </a:solidFill>
                <a:latin typeface="Manrope"/>
                <a:ea typeface="Manrope"/>
                <a:cs typeface="Manrope"/>
              </a:rPr>
              <a:t>Платформа</a:t>
            </a:r>
            <a:endParaRPr>
              <a:solidFill>
                <a:schemeClr val="bg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algn="r">
              <a:buNone/>
            </a:pPr>
            <a:r>
              <a:rPr>
                <a:solidFill>
                  <a:schemeClr val="bg1"/>
                </a:solidFill>
                <a:latin typeface="Manrope"/>
                <a:ea typeface="Manrope"/>
                <a:cs typeface="Manrope"/>
              </a:rPr>
              <a:t>интегрированного</a:t>
            </a:r>
          </a:p>
          <a:p xmlns:a="http://schemas.openxmlformats.org/drawingml/2006/main">
            <a:pPr algn="r">
              <a:buNone/>
            </a:pPr>
            <a:r>
              <a:rPr>
                <a:solidFill>
                  <a:schemeClr val="bg1"/>
                </a:solidFill>
                <a:latin typeface="Manrope"/>
                <a:ea typeface="Manrope"/>
                <a:cs typeface="Manrope"/>
              </a:rPr>
              <a:t>планирования</a:t>
            </a:r>
          </a:p>
        </p:txBody>
      </p:sp>
      <p:sp>
        <p:nvSpPr>
          <p:cNvPr id="15" name="Round Single Corner of Rectangle 14">
            <a:extLst xmlns:a="http://schemas.openxmlformats.org/drawingml/2006/main">
              <a:ext uri="{FF2B5EF4-FFF2-40B4-BE49-F238E27FC236}">
                <a16:creationId xmlns:a16="http://schemas.microsoft.com/office/drawing/2014/main" id="{1EA5068B-6876-6B61-E09A-2B2E5D2F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464290" y="0"/>
            <a:ext cx="727710" cy="6858000"/>
          </a:xfrm>
          <a:prstGeom xmlns:a="http://schemas.openxmlformats.org/drawingml/2006/main" prst="round1Rect">
            <a:avLst>
              <a:gd name="adj" fmla="val 50000"/>
            </a:avLst>
          </a:prstGeom>
          <a:solidFill xmlns:a="http://schemas.openxmlformats.org/drawingml/2006/main">
            <a:srgbClr val="4769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C36978FC-EA20-48FF-8AF6-5B145C5532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067c3740c49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21" y="471588"/>
            <a:ext cx="3123085" cy="685880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48B41E49-91EE-4BCD-86BA-6E6D4BFA60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587f4726146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0630" y="5917170"/>
            <a:ext cx="5852160" cy="52098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51931-13B8-EA81-74A8-52D75249C0E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83870" y="2739373"/>
            <a:ext cx="7414260" cy="76963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l">
              <a:buNone/>
              <a:defRPr sz="3500" b="1">
                <a:solidFill>
                  <a:srgbClr val="04143A"/>
                </a:solidFill>
                <a:latin typeface="Manrope"/>
                <a:ea typeface="Manrope"/>
                <a:cs typeface="Manrope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FE54C9A-2E18-BEE9-1490-16373B9D74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83870" y="3573800"/>
            <a:ext cx="3665220" cy="69564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2000">
                <a:solidFill>
                  <a:srgbClr val="04143A"/>
                </a:solidFill>
                <a:latin typeface="Manrope"/>
                <a:ea typeface="Manrope"/>
                <a:cs typeface="Manrop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11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0AEA54-383F-4E71-A209-DBC364ED5D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83870" y="4427220"/>
            <a:ext cx="114046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1200">
                <a:solidFill>
                  <a:srgbClr val="04143A"/>
                </a:solidFill>
                <a:latin typeface="Manrope"/>
                <a:ea typeface="Manrope"/>
                <a:cs typeface="Manrope"/>
              </a:defRPr>
            </a:lvl1pPr>
          </a:lstStyle>
          <a:p xmlns:a="http://schemas.openxmlformats.org/drawingml/2006/main">
            <a:fld id="{186B0DE7-2515-934C-9DE9-468F3F19B93B}" type="datetime1">
              <a:t>18.08.2026</a:t>
            </a:fld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8B96532-0764-8CF4-7B5D-47850F89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619" y="282625"/>
            <a:ext cx="2608897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>
                <a:solidFill>
                  <a:schemeClr val="bg1"/>
                </a:solidFill>
                <a:latin typeface="Manrope"/>
                <a:ea typeface="Manrope"/>
                <a:cs typeface="Manrope"/>
              </a:rPr>
              <a:t>Платформа</a:t>
            </a:r>
            <a:endParaRPr>
              <a:solidFill>
                <a:schemeClr val="bg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algn="r">
              <a:buNone/>
            </a:pPr>
            <a:r>
              <a:rPr>
                <a:solidFill>
                  <a:schemeClr val="bg1"/>
                </a:solidFill>
                <a:latin typeface="Manrope"/>
                <a:ea typeface="Manrope"/>
                <a:cs typeface="Manrope"/>
              </a:rPr>
              <a:t>интегрированного</a:t>
            </a:r>
          </a:p>
          <a:p xmlns:a="http://schemas.openxmlformats.org/drawingml/2006/main">
            <a:pPr algn="r">
              <a:buNone/>
            </a:pPr>
            <a:r>
              <a:rPr>
                <a:solidFill>
                  <a:schemeClr val="bg1"/>
                </a:solidFill>
                <a:latin typeface="Manrope"/>
                <a:ea typeface="Manrope"/>
                <a:cs typeface="Manrope"/>
              </a:rPr>
              <a:t>планирования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DBC6D6FA-7915-4BDB-BB7D-083CC5204E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ceba7e77248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121" y="471588"/>
            <a:ext cx="3123085" cy="685880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00DED1D7-DC4C-449C-BF35-E13D8FBC43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8502c54eb4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6020040"/>
            <a:ext cx="5852160" cy="520985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9AAB305A-9DEF-4953-8399-88D6CFFDDD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9d87086644d9d"/>
          <a:srcRect xmlns:a="http://schemas.openxmlformats.org/drawingml/2006/main" l="22112" t="21594" r="18870" b="33044"/>
          <a:stretch xmlns:a="http://schemas.openxmlformats.org/drawingml/2006/main"/>
        </p:blipFill>
        <p:spPr>
          <a:xfrm xmlns:a="http://schemas.openxmlformats.org/drawingml/2006/main" rot="5400000" flipV="1">
            <a:off x="7005919" y="1671917"/>
            <a:ext cx="6858000" cy="3514166"/>
          </a:xfrm>
          <a:prstGeom xmlns:a="http://schemas.openxmlformats.org/drawingml/2006/main" prst="round1Rect">
            <a:avLst>
              <a:gd name="adj" fmla="val 44297"/>
            </a:avLst>
          </a:prstGeom>
        </p:spPr>
      </p:pic>
    </p:spTree>
  </p:cSld>
</p:sldLayout>
</file>

<file path=ppt/slideLayouts/slideLayout5.xml><?xml version="1.0" encoding="utf-8"?>
<p:sldLayout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CDA86188-52AF-4EE9-B8D0-DF4C2506D4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2c74ca7d546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5570" y="303637"/>
            <a:ext cx="1336522" cy="293522"/>
          </a:xfrm>
          <a:prstGeom xmlns:a="http://schemas.openxmlformats.org/drawingml/2006/main" prst="rect">
            <a:avLst/>
          </a:prstGeom>
        </p:spPr>
      </p:pic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1746C87A-ED09-1ECE-688B-6FD2C3E4A8E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69570" y="396223"/>
            <a:ext cx="7414260" cy="76963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l">
              <a:buNone/>
              <a:defRPr sz="2400" b="1">
                <a:solidFill>
                  <a:srgbClr val="04143A"/>
                </a:solidFill>
                <a:latin typeface="Manrope"/>
                <a:ea typeface="Manrope"/>
                <a:cs typeface="Manrope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B3C5D5-F6B6-31CF-4F50-84E69CB9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925" y="6485174"/>
            <a:ext cx="770951" cy="1922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r" defTabSz="914400">
              <a:buNone/>
              <a:defRPr sz="1000" b="0" i="0" kern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0D558541-60C9-42A2-8392-FF12533A6B7A}" type="slidenum">
              <a:rPr sz="900">
                <a:solidFill>
                  <a:schemeClr val="tx1"/>
                </a:solidFill>
                <a:latin typeface="Manrope"/>
                <a:ea typeface="Manrope"/>
                <a:cs typeface="Manrope"/>
              </a:rPr>
              <a:t>‹#›</a:t>
            </a:fld>
            <a:endParaRPr sz="900">
              <a:solidFill>
                <a:schemeClr val="tx1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230FB23-83DB-5683-5089-B1335090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831" y="6504373"/>
            <a:ext cx="2880000" cy="1538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marL="0" algn="r" defTabSz="914400"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spcBef>
                <a:spcPts val="0"/>
              </a:spcBef>
              <a:buNone/>
            </a:pPr>
            <a:endParaRPr sz="1000">
              <a:solidFill>
                <a:schemeClr val="tx1"/>
              </a:solidFill>
              <a:latin typeface="Manrope"/>
              <a:ea typeface="Manrope"/>
              <a:cs typeface="Manrope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BFEE163-393A-6CFB-DA19-600EBBC3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43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bg1"/>
              </a:solidFill>
            </a:endParaRP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6FDD459F-AC64-49C3-996A-6F094DD6E2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2389da45b4c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5570" y="341737"/>
            <a:ext cx="1354448" cy="295200"/>
          </a:xfrm>
          <a:prstGeom xmlns:a="http://schemas.openxmlformats.org/drawingml/2006/main" prst="rect">
            <a:avLst/>
          </a:prstGeom>
        </p:spPr>
      </p:pic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1F30F53E-42BE-488F-10F0-67E78F27DD5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69570" y="396223"/>
            <a:ext cx="7414260" cy="76963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l">
              <a:buNone/>
              <a:defRPr sz="2400" b="1">
                <a:solidFill>
                  <a:schemeClr val="bg1"/>
                </a:solidFill>
                <a:latin typeface="Manrope"/>
                <a:ea typeface="Manrope"/>
                <a:cs typeface="Manrope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A55B79-0A36-BA81-578A-292A2A66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925" y="6485174"/>
            <a:ext cx="770951" cy="1922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r" defTabSz="914400">
              <a:buNone/>
              <a:defRPr sz="1000" b="0" i="0" kern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0D558541-60C9-42A2-8392-FF12533A6B7A}" type="slidenum">
              <a:rPr sz="900">
                <a:solidFill>
                  <a:schemeClr val="bg1"/>
                </a:solidFill>
                <a:latin typeface="Manrope"/>
                <a:ea typeface="Manrope"/>
                <a:cs typeface="Manrope"/>
              </a:rPr>
              <a:t>‹#›</a:t>
            </a:fld>
            <a:endParaRPr sz="900">
              <a:solidFill>
                <a:schemeClr val="bg1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92A396-F273-3CCB-6324-DEE7D1D8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831" y="6504373"/>
            <a:ext cx="2880000" cy="1538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marL="0" algn="r" defTabSz="914400"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spcBef>
                <a:spcPts val="0"/>
              </a:spcBef>
              <a:buNone/>
            </a:pPr>
            <a:endParaRPr sz="1000">
              <a:solidFill>
                <a:schemeClr val="bg1"/>
              </a:solidFill>
              <a:latin typeface="Manrope"/>
              <a:ea typeface="Manrope"/>
              <a:cs typeface="Manrope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8ADE6A0A-A6AB-4589-8599-9F9F0B1673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9297df46547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814596"/>
            <a:ext cx="12192000" cy="2043404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2D9D364-B606-4AB1-AA0D-C28FE099DC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0931c58494c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5570" y="303637"/>
            <a:ext cx="1336522" cy="293522"/>
          </a:xfrm>
          <a:prstGeom xmlns:a="http://schemas.openxmlformats.org/drawingml/2006/main" prst="rect">
            <a:avLst/>
          </a:prstGeom>
        </p:spPr>
      </p:pic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B7AA92AD-345E-BE1C-BBF4-FEDCFF06EFE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69570" y="396223"/>
            <a:ext cx="7414260" cy="76963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l">
              <a:buNone/>
              <a:defRPr sz="2400" b="1">
                <a:solidFill>
                  <a:srgbClr val="04143A"/>
                </a:solidFill>
                <a:latin typeface="Manrope"/>
                <a:ea typeface="Manrope"/>
                <a:cs typeface="Manrope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9F57DA-0741-817A-C418-63E9014E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925" y="6485174"/>
            <a:ext cx="770951" cy="1922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r" defTabSz="914400">
              <a:buNone/>
              <a:defRPr sz="1000" b="0" i="0" kern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0D558541-60C9-42A2-8392-FF12533A6B7A}" type="slidenum">
              <a:rPr sz="900">
                <a:solidFill>
                  <a:schemeClr val="tx1"/>
                </a:solidFill>
                <a:latin typeface="Manrope"/>
                <a:ea typeface="Manrope"/>
                <a:cs typeface="Manrope"/>
              </a:rPr>
              <a:t>‹#›</a:t>
            </a:fld>
            <a:endParaRPr sz="900">
              <a:solidFill>
                <a:schemeClr val="tx1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0CF9FC0-76B8-2299-2F0F-3BFBE898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831" y="6504373"/>
            <a:ext cx="2880000" cy="1538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 marL="0" algn="r" defTabSz="914400"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spcBef>
                <a:spcPts val="0"/>
              </a:spcBef>
              <a:buNone/>
            </a:pPr>
            <a:endParaRPr sz="1000">
              <a:solidFill>
                <a:schemeClr val="tx1"/>
              </a:solidFill>
              <a:latin typeface="Manrope"/>
              <a:ea typeface="Manrope"/>
              <a:cs typeface="Manrope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D2B3972-EBF3-BC03-E937-424DBB9D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4F7FC"/>
              </a:solidFill>
            </a:endParaRPr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CD101227-F004-45E1-881C-C1A195750F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9ca30b88743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275109"/>
            <a:ext cx="11563350" cy="6259041"/>
          </a:xfrm>
          <a:prstGeom xmlns:a="http://schemas.openxmlformats.org/drawingml/2006/main" prst="rect">
            <a:avLst/>
          </a:prstGeom>
        </p:spPr>
      </p:pic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F50B7BAB-BE77-6510-E5D5-8E77F290491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66813" y="4381068"/>
            <a:ext cx="10515600" cy="1325563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 b="1">
                <a:solidFill>
                  <a:schemeClr val="bg1"/>
                </a:solidFill>
                <a:latin typeface="Manrope"/>
                <a:ea typeface="Manrope"/>
                <a:cs typeface="Manrope"/>
              </a:defRPr>
            </a:lvl1pPr>
          </a:lstStyle>
          <a:p xmlns:a="http://schemas.openxmlformats.org/drawingml/2006/main">
            <a:r>
              <a:t>Click to edit Master title style</a:t>
            </a:r>
            <a:br/>
            <a:r>
              <a:t>Click to edit Master title style</a:t>
            </a:r>
            <a:endParaRPr/>
          </a:p>
        </p:txBody>
      </p:sp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8D672062-B725-4D62-B56A-A69B0162DC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0253d1a1e49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636271"/>
            <a:ext cx="1363532" cy="29718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49F346B-D8DB-251C-0822-D0D54DA7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4F7FC"/>
              </a:solidFill>
            </a:endParaRPr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10A4127D-9953-4681-9D1B-9C0173CE89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0f0346b974f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313209"/>
            <a:ext cx="11544300" cy="6201891"/>
          </a:xfrm>
          <a:prstGeom xmlns:a="http://schemas.openxmlformats.org/drawingml/2006/main" prst="rect">
            <a:avLst/>
          </a:prstGeom>
        </p:spPr>
      </p:pic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B1998EDA-4413-C8BC-CC90-196A4E64EA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66813" y="4381068"/>
            <a:ext cx="10515600" cy="1325563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 b="1">
                <a:solidFill>
                  <a:schemeClr val="bg1"/>
                </a:solidFill>
                <a:latin typeface="Manrope"/>
                <a:ea typeface="Manrope"/>
                <a:cs typeface="Manrope"/>
              </a:defRPr>
            </a:lvl1pPr>
          </a:lstStyle>
          <a:p xmlns:a="http://schemas.openxmlformats.org/drawingml/2006/main">
            <a:r>
              <a:t>Click to edit Master title style</a:t>
            </a:r>
            <a:br/>
            <a:r>
              <a:t>Click to edit Master title style</a:t>
            </a:r>
            <a:endParaRPr/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2C62833A-5CB3-4E8B-9F77-65EC3EECCC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74cb4e8134f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636271"/>
            <a:ext cx="1363532" cy="29718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49F346B-D8DB-251C-0822-D0D54DA7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4F7FC"/>
              </a:solidFill>
            </a:endParaRPr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FAF191B9-7D67-4283-8E2F-AB6E6D3159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68c7366e948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294159"/>
            <a:ext cx="11544300" cy="6239991"/>
          </a:xfrm>
          <a:prstGeom xmlns:a="http://schemas.openxmlformats.org/drawingml/2006/main" prst="rect">
            <a:avLst/>
          </a:prstGeom>
        </p:spPr>
      </p:pic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B1998EDA-4413-C8BC-CC90-196A4E64EA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66813" y="4381068"/>
            <a:ext cx="10515600" cy="1325563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 b="1">
                <a:solidFill>
                  <a:schemeClr val="bg1"/>
                </a:solidFill>
                <a:latin typeface="Manrope"/>
                <a:ea typeface="Manrope"/>
                <a:cs typeface="Manrope"/>
              </a:defRPr>
            </a:lvl1pPr>
          </a:lstStyle>
          <a:p xmlns:a="http://schemas.openxmlformats.org/drawingml/2006/main">
            <a:r>
              <a:t>Click to edit Master title style</a:t>
            </a:r>
            <a:br/>
            <a:r>
              <a:t>Click to edit Master title style</a:t>
            </a:r>
            <a:endParaRPr/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88EDE191-A11F-4831-8428-2738824AA4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5d856552c42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636271"/>
            <a:ext cx="1363532" cy="29718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F77B3833-0B68-40D2-92A2-18439E9986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64a45c37c42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750" y="184916"/>
            <a:ext cx="11563350" cy="6444484"/>
          </a:xfrm>
          <a:prstGeom xmlns:a="http://schemas.openxmlformats.org/drawingml/2006/main" prst="rect">
            <a:avLst/>
          </a:prstGeom>
        </p:spPr>
      </p:pic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B1998EDA-4413-C8BC-CC90-196A4E64EA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66813" y="2761818"/>
            <a:ext cx="10515600" cy="1325563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 b="1">
                <a:solidFill>
                  <a:schemeClr val="bg1"/>
                </a:solidFill>
                <a:latin typeface="Manrope"/>
                <a:ea typeface="Manrope"/>
                <a:cs typeface="Manrope"/>
              </a:defRPr>
            </a:lvl1pPr>
          </a:lstStyle>
          <a:p xmlns:a="http://schemas.openxmlformats.org/drawingml/2006/main">
            <a:r>
              <a:t>Click to edit Master title style</a:t>
            </a:r>
            <a:br/>
            <a:r>
              <a:t>Click to edit Master title style</a:t>
            </a:r>
            <a:endParaRPr/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038BEFB5-4056-477D-83C7-0DD4A10734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d88db444b4f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5370" y="5657850"/>
            <a:ext cx="2097746" cy="45720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2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B437674-2EEB-5C37-909D-69DCBF34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4F7FC"/>
              </a:solidFill>
            </a:endParaR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FC50518-128B-9E17-516D-80C556F4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0"/>
            <a:ext cx="11506200" cy="6210300"/>
          </a:xfrm>
          <a:prstGeom xmlns:a="http://schemas.openxmlformats.org/drawingml/2006/main" prst="roundRect">
            <a:avLst>
              <a:gd name="adj" fmla="val 6852"/>
            </a:avLst>
          </a:prstGeom>
          <a:solidFill xmlns:a="http://schemas.openxmlformats.org/drawingml/2006/main">
            <a:srgbClr val="04143A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FEFA88D7-4861-41A7-811A-F1982E4C1D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229bca9514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0300" y="5658604"/>
            <a:ext cx="5122332" cy="456445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3236CAF1-8D7E-4C8E-87C0-2B27D4058F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d9987235344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" y="742951"/>
            <a:ext cx="1835524" cy="400050"/>
          </a:xfrm>
          <a:prstGeom xmlns:a="http://schemas.openxmlformats.org/drawingml/2006/main" prst="rect">
            <a:avLst/>
          </a:prstGeom>
        </p:spPr>
      </p:pic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01E0CEF-E0A3-B8D6-338D-3720065E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5924550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6600">
                <a:solidFill>
                  <a:schemeClr val="bg1"/>
                </a:solidFill>
                <a:latin typeface="Manrope"/>
                <a:ea typeface="Manrope"/>
                <a:cs typeface="Manrope"/>
              </a:rPr>
              <a:t>Спасибо!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cf743bc0a34ed3" /><Relationship Type="http://schemas.openxmlformats.org/officeDocument/2006/relationships/slideLayout" Target="/ppt/slideLayouts/slideLayout1.xml" Id="R8b7f1e1e6fb44465" /><Relationship Type="http://schemas.openxmlformats.org/officeDocument/2006/relationships/slideLayout" Target="/ppt/slideLayouts/slideLayout2.xml" Id="Rcf37e0b53d9d4e4a" /><Relationship Type="http://schemas.openxmlformats.org/officeDocument/2006/relationships/slideLayout" Target="/ppt/slideLayouts/slideLayout3.xml" Id="Rcc9427f56c724e03" /><Relationship Type="http://schemas.openxmlformats.org/officeDocument/2006/relationships/slideLayout" Target="/ppt/slideLayouts/slideLayout4.xml" Id="R8428ca47ea2d40b7" /><Relationship Type="http://schemas.openxmlformats.org/officeDocument/2006/relationships/slideLayout" Target="/ppt/slideLayouts/slideLayout5.xml" Id="R86e27dc211504aca" /><Relationship Type="http://schemas.openxmlformats.org/officeDocument/2006/relationships/slideLayout" Target="/ppt/slideLayouts/slideLayout6.xml" Id="R6ae12947ee7c430f" /><Relationship Type="http://schemas.openxmlformats.org/officeDocument/2006/relationships/slideLayout" Target="/ppt/slideLayouts/slideLayout7.xml" Id="R50d21e9bf8c24fd0" /><Relationship Type="http://schemas.openxmlformats.org/officeDocument/2006/relationships/slideLayout" Target="/ppt/slideLayouts/slideLayout8.xml" Id="R037ef04239b84fac" /><Relationship Type="http://schemas.openxmlformats.org/officeDocument/2006/relationships/slideLayout" Target="/ppt/slideLayouts/slideLayout9.xml" Id="Rdd142d093bcc48ef" /><Relationship Type="http://schemas.openxmlformats.org/officeDocument/2006/relationships/slideLayout" Target="/ppt/slideLayouts/slideLayout10.xml" Id="Rae6c8b2b1aee4867" /><Relationship Type="http://schemas.openxmlformats.org/officeDocument/2006/relationships/slideLayout" Target="/ppt/slideLayouts/slideLayout11.xml" Id="R90606dd3600d4fcb" /><Relationship Type="http://schemas.openxmlformats.org/officeDocument/2006/relationships/slideLayout" Target="/ppt/slideLayouts/slideLayout12.xml" Id="R5338a50ba2d340b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A6407E4-854A-DBF5-805D-892464DF5F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39CA931-AC62-CBFB-AC66-C721659FAD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25A55E-37D6-1738-A25A-6DEE8BDFAB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0468B52-A932-2141-A4BD-91D6C24EE64E}" type="datetime1">
              <a:t>18.08.2026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34D052-1663-DD2B-3952-5A815D59B06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5078CD8-DAAE-4E6A-C8B3-8970865ACA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7AF19B2-DC6B-D242-9281-E3853BE4330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7f1e1e6fb44465"/>
    <p:sldLayoutId xmlns:r="http://schemas.openxmlformats.org/officeDocument/2006/relationships" id="2147483650" r:id="Rcf37e0b53d9d4e4a"/>
    <p:sldLayoutId xmlns:r="http://schemas.openxmlformats.org/officeDocument/2006/relationships" id="2147483651" r:id="Rcc9427f56c724e03"/>
    <p:sldLayoutId xmlns:r="http://schemas.openxmlformats.org/officeDocument/2006/relationships" id="2147483652" r:id="R8428ca47ea2d40b7"/>
    <p:sldLayoutId xmlns:r="http://schemas.openxmlformats.org/officeDocument/2006/relationships" id="2147483653" r:id="R86e27dc211504aca"/>
    <p:sldLayoutId xmlns:r="http://schemas.openxmlformats.org/officeDocument/2006/relationships" id="2147483654" r:id="R6ae12947ee7c430f"/>
    <p:sldLayoutId xmlns:r="http://schemas.openxmlformats.org/officeDocument/2006/relationships" id="2147483655" r:id="R50d21e9bf8c24fd0"/>
    <p:sldLayoutId xmlns:r="http://schemas.openxmlformats.org/officeDocument/2006/relationships" id="2147483656" r:id="R037ef04239b84fac"/>
    <p:sldLayoutId xmlns:r="http://schemas.openxmlformats.org/officeDocument/2006/relationships" id="2147483657" r:id="Rdd142d093bcc48ef"/>
    <p:sldLayoutId xmlns:r="http://schemas.openxmlformats.org/officeDocument/2006/relationships" id="2147483658" r:id="Rae6c8b2b1aee4867"/>
    <p:sldLayoutId xmlns:r="http://schemas.openxmlformats.org/officeDocument/2006/relationships" id="2147483659" r:id="R90606dd3600d4fcb"/>
    <p:sldLayoutId xmlns:r="http://schemas.openxmlformats.org/officeDocument/2006/relationships" id="2147483660" r:id="R5338a50ba2d340b8"/>
  </p:sldLayoutIdLst>
  <p:hf sldNum="0" hdr="0" ft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668FE"/>
      </a:dk2>
      <a:lt2>
        <a:srgbClr val="04153A"/>
      </a:lt2>
      <a:accent1>
        <a:srgbClr val="EC0183"/>
      </a:accent1>
      <a:accent2>
        <a:srgbClr val="A5236B"/>
      </a:accent2>
      <a:accent3>
        <a:srgbClr val="FF0017"/>
      </a:accent3>
      <a:accent4>
        <a:srgbClr val="FF8C00"/>
      </a:accent4>
      <a:accent5>
        <a:srgbClr val="A0A9B7"/>
      </a:accent5>
      <a:accent6>
        <a:srgbClr val="F3F6FB"/>
      </a:accent6>
      <a:hlink>
        <a:srgbClr val="EC0183"/>
      </a:hlink>
      <a:folHlink>
        <a:srgbClr val="A5236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e865df4cca04151" /><Relationship Type="http://schemas.openxmlformats.org/officeDocument/2006/relationships/notesSlide" Target="/ppt/notesSlides/notesSlide1.xml" Id="Raf8f171a87b742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51a7257e993476b" /><Relationship Type="http://schemas.openxmlformats.org/officeDocument/2006/relationships/notesSlide" Target="/ppt/notesSlides/notesSlide2.xml" Id="R340ba34e4fca4d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e290803d14948d9" /><Relationship Type="http://schemas.openxmlformats.org/officeDocument/2006/relationships/image" Target="/ppt/media/image3.png" Id="Rc117f165947d4d07" /><Relationship Type="http://schemas.openxmlformats.org/officeDocument/2006/relationships/notesSlide" Target="/ppt/notesSlides/notesSlide3.xml" Id="Rf8d2e73b16134c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153474964604a4b" /><Relationship Type="http://schemas.openxmlformats.org/officeDocument/2006/relationships/notesSlide" Target="/ppt/notesSlides/notesSlide4.xml" Id="Rc2a786a87bfd46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fbb82cc21434f2f" /><Relationship Type="http://schemas.openxmlformats.org/officeDocument/2006/relationships/image" Target="/ppt/media/image4.png" Id="Rec69f28e716a4596" /><Relationship Type="http://schemas.openxmlformats.org/officeDocument/2006/relationships/notesSlide" Target="/ppt/notesSlides/notesSlide5.xml" Id="R8d094428032043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ffa89bc7a3248b9" /><Relationship Type="http://schemas.openxmlformats.org/officeDocument/2006/relationships/notesSlide" Target="/ppt/notesSlides/notesSlide6.xml" Id="R65d59bd5637c41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49161478bd34812" /><Relationship Type="http://schemas.openxmlformats.org/officeDocument/2006/relationships/image" Target="/ppt/media/image5.png" Id="R3c2ee32d1c054a65" /><Relationship Type="http://schemas.openxmlformats.org/officeDocument/2006/relationships/notesSlide" Target="/ppt/notesSlides/notesSlide7.xml" Id="Rda00ca725a544c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2ae80c3b66c4d08" /><Relationship Type="http://schemas.openxmlformats.org/officeDocument/2006/relationships/notesSlide" Target="/ppt/notesSlides/notesSlide8.xml" Id="Rdb8fd9671e5249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0176e304897418e" /><Relationship Type="http://schemas.openxmlformats.org/officeDocument/2006/relationships/notesSlide" Target="/ppt/notesSlides/notesSlide9.xml" Id="R0d57c74aa03941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48735db82bc4aac" /><Relationship Type="http://schemas.openxmlformats.org/officeDocument/2006/relationships/notesSlide" Target="/ppt/notesSlides/notesSlide10.xml" Id="Red59b56ada1c46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09c16b4374f46df" /><Relationship Type="http://schemas.openxmlformats.org/officeDocument/2006/relationships/image" Target="/ppt/media/image6.png" Id="Rfcc134e943ac4c1d" /><Relationship Type="http://schemas.openxmlformats.org/officeDocument/2006/relationships/notesSlide" Target="/ppt/notesSlides/notesSlide11.xml" Id="R7f1e03939d6e4e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cb4bb03a59f4ae1" /><Relationship Type="http://schemas.openxmlformats.org/officeDocument/2006/relationships/notesSlide" Target="/ppt/notesSlides/notesSlide12.xml" Id="R10a6bad933504d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1682d647b9449eb" /><Relationship Type="http://schemas.openxmlformats.org/officeDocument/2006/relationships/notesSlide" Target="/ppt/notesSlides/notesSlide13.xml" Id="R09ebc45ad46b47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ca13c64c3844880" /><Relationship Type="http://schemas.openxmlformats.org/officeDocument/2006/relationships/notesSlide" Target="/ppt/notesSlides/notesSlide14.xml" Id="Rb1be10e5613a48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B8D7A5E-43F7-4C3A-B106-66180B30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35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3500" b="1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SNP Anonymizer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761A069-0C3B-4780-B3CC-B4464398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194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7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Пошаговая инструкция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64DBD69-4115-43DD-938E-41C22575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5290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555B6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555B6B"/>
                </a:solidFill>
                <a:latin typeface="Manrope"/>
                <a:ea typeface="Manrope"/>
                <a:cs typeface="Manrope"/>
              </a:defRPr>
            </a:pPr>
            <a:r>
              <a:rPr sz="2000" b="0">
                <a:solidFill>
                  <a:srgbClr val="555B6B"/>
                </a:solidFill>
                <a:latin typeface="Manrope"/>
                <a:ea typeface="Manrope"/>
                <a:cs typeface="Manrope"/>
              </a:rPr>
              <a:t>Графический интерфейс для Windows</a:t>
            </a:r>
          </a:p>
          <a:p xmlns:a="http://schemas.openxmlformats.org/drawingml/2006/main">
            <a:pPr algn="l">
              <a:defRPr sz="2000" b="0">
                <a:solidFill>
                  <a:srgbClr val="555B6B"/>
                </a:solidFill>
                <a:latin typeface="Manrope"/>
                <a:ea typeface="Manrope"/>
                <a:cs typeface="Manrope"/>
              </a:defRPr>
            </a:pPr>
            <a:r>
              <a:rPr sz="2000" b="0">
                <a:solidFill>
                  <a:srgbClr val="555B6B"/>
                </a:solidFill>
                <a:latin typeface="Manrope"/>
                <a:ea typeface="Manrope"/>
                <a:cs typeface="Manrope"/>
              </a:rPr>
              <a:t>Октябрь 2026</a:t>
            </a:r>
          </a:p>
        </p:txBody>
      </p:sp>
    </p:spTree>
    <p:extLst>
      <p:ext uri="{BB962C8B-B14F-4D97-AF65-F5344CB8AC3E}">
        <p14:creationId xmlns:p14="http://schemas.microsoft.com/office/powerpoint/2010/main" val="8600841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64DBBD-A72E-47BB-AA84-10B9DB0A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Что понадобится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72BE1F7-7500-478C-AF2C-68BD2B87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Приложение и исходные данные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8EFAD24-6190-4FE8-82DA-66885E92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Запустите SNP-Anonymizer.exe двойным щелчком. Установка и Python не нужны. Файловый режим работает без сети.</a:t>
            </a:r>
          </a:p>
        </p:txBody>
      </p:sp>
      <p:sp>
        <p:nvSpPr>
          <p:cNvPr id="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08274C-DDCD-4695-BB9A-E3D43C20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Отдельное место для проекта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29E613C-BACE-45AE-9BE1-21F496E2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521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Подготовьте папку для файла .snpanon. Для каждого клиента используйте свой проект.</a:t>
            </a:r>
          </a:p>
        </p:txBody>
      </p:sp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D11F461-E22A-4E45-990B-145DC652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Обезличенный результат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BFE24B0-8BA8-491C-9637-D501E5E7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62425"/>
            <a:ext cx="52197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Названия, тексты и бизнес-коды получают согласованные замены. Значения sys_id в результат не попадают.</a:t>
            </a:r>
          </a:p>
        </p:txBody>
      </p:sp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D9A67FB-5D95-44C4-A442-69362A1A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Сохраняемые значения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58347C7-C352-45A3-B58A-0933BBA4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62425"/>
            <a:ext cx="52197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Количества, цены и даты сохраняются. Приложение проверяет доступные связи и бизнес-ключи.</a:t>
            </a:r>
          </a:p>
        </p:txBody>
      </p:sp>
    </p:spTree>
    <p:extLst>
      <p:ext uri="{BB962C8B-B14F-4D97-AF65-F5344CB8AC3E}">
        <p14:creationId xmlns:p14="http://schemas.microsoft.com/office/powerpoint/2010/main" val="18229619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79F36-F619-4CCC-9F87-DA226D32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1. Источник и папка результата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42FED-91EE-451A-8B19-2E91535FE0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7f165947d4d07"/>
          <a:stretch xmlns:a="http://schemas.openxmlformats.org/drawingml/2006/main"/>
        </p:blipFill>
        <p:spPr>
          <a:xfrm xmlns:a="http://schemas.openxmlformats.org/drawingml/2006/main">
            <a:off x="495300" y="1428750"/>
            <a:ext cx="11201400" cy="2837688"/>
          </a:xfrm>
          <a:prstGeom xmlns:a="http://schemas.openxmlformats.org/drawingml/2006/main" prst="rect">
            <a:avLst/>
          </a:prstGeom>
        </p:spPr>
      </p:pic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5170FCF-6157-49B1-B97D-3C50DD70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11201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«SQL…»: .sql или .zip с одним SQL-файлом либо CSV-набором.</a:t>
            </a:r>
          </a:p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«CSV…»: папка CSV, одна таблица в файле, заголовки колонок.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4B7B66A-549D-4D6D-A2EC-672C29DC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72100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В поле «Папка результата» нажмите «Выбрать…» и укажите родительскую папку. Приложение предложит новую подпапку snp_anon_…</a:t>
            </a:r>
          </a:p>
        </p:txBody>
      </p:sp>
    </p:spTree>
    <p:extLst>
      <p:ext uri="{BB962C8B-B14F-4D97-AF65-F5344CB8AC3E}">
        <p14:creationId xmlns:p14="http://schemas.microsoft.com/office/powerpoint/2010/main" val="18229619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A5B49B-E291-4916-8C33-550D6E0B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2. Локальный проект и Excel-карта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6AA6B55-D797-44AD-87EA-BEDDEA49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9725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Локальный проект .snpanon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0B4D213-5D9A-47A7-93A8-E991495D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52197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Первый запуск: «Новый…», затем новое имя файла.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Повторная выгрузка того же клиента: «Открыть…» и прежний проект.</a:t>
            </a:r>
          </a:p>
        </p:txBody>
      </p:sp>
      <p:sp>
        <p:nvSpPr>
          <p:cNvPr id="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EFEDD99-9D47-4322-9F63-9591A1CA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9725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Карта замен .xlsx, по желанию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FD0E07A-AE0B-4BD3-A253-ECE7F613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52197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В поле «Карта замен в Excel» нажмите «Файл…» и задайте имя вне папки результата.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Карта содержит исходное значение и его замену.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F14E8A3-7442-4280-9148-4F6665E9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Проект и Excel-карта содержат исходные значения. Храните их отдельно от пакета и не передавайте получателю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8229619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062D07-5977-4337-929A-9CD6C063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3. Настройки обезличивания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5E11F-618B-4D79-9582-819BA9C8C6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9f28e716a4596"/>
          <a:stretch xmlns:a="http://schemas.openxmlformats.org/drawingml/2006/main"/>
        </p:blipFill>
        <p:spPr>
          <a:xfrm xmlns:a="http://schemas.openxmlformats.org/drawingml/2006/main">
            <a:off x="495300" y="1409700"/>
            <a:ext cx="10325100" cy="3831759"/>
          </a:xfrm>
          <a:prstGeom xmlns:a="http://schemas.openxmlformats.org/drawingml/2006/main" prst="rect">
            <a:avLst/>
          </a:prstGeom>
        </p:spPr>
      </p:pic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168627A-03C5-45A0-91E9-F03F5F80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Для нового проекта выберите отрасль. Укажите кодировку входа, для CSV начните с разделителя «Авто». В «Схемы SQL» перечислите схемы через запятую или оставьте поле пустым.</a:t>
            </a:r>
          </a:p>
        </p:txBody>
      </p:sp>
    </p:spTree>
    <p:extLst>
      <p:ext uri="{BB962C8B-B14F-4D97-AF65-F5344CB8AC3E}">
        <p14:creationId xmlns:p14="http://schemas.microsoft.com/office/powerpoint/2010/main" val="18229619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74A17B-4602-4162-B04A-3118DB5C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4. Запуск обработки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50DEB0-9515-4D37-A77D-2CB39CEE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E58C869-9939-42AD-9ABE-BFDB7023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6192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Проверьте исходные данные, новую папку результата и файл проекта.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14FA29C-9FEF-44C4-A07E-F3F1B2C3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3175907-E5D1-48F3-9A86-E8F2A5D9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670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Для файлового режима оставьте загрузку в PostgreSQL выключенной.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966F54C-05C5-48B6-B735-BB2B5F7B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841B687-3ACB-4FEB-8E32-C522B99B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147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Нажмите «Обезличить и экспортировать». Дождитесь сообщения «Готово».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02D0F8E-3793-47A5-90BC-2C121FAF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7BCF34D8-0ED7-4F33-9D33-7478E76B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625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При необходимости нажмите «Отмена». Во время работы параметры недоступны.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7ED46CE0-9937-4991-8A92-D40008F1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67425"/>
            <a:ext cx="11201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5B6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55B6B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555B6B"/>
                </a:solidFill>
                <a:latin typeface="Manrope"/>
                <a:ea typeface="Manrope"/>
                <a:cs typeface="Manrope"/>
              </a:rPr>
              <a:t>Шаги PostgreSQL описаны отдельно на слайдах 11–12.</a:t>
            </a:r>
          </a:p>
        </p:txBody>
      </p:sp>
    </p:spTree>
    <p:extLst>
      <p:ext uri="{BB962C8B-B14F-4D97-AF65-F5344CB8AC3E}">
        <p14:creationId xmlns:p14="http://schemas.microsoft.com/office/powerpoint/2010/main" val="1822961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D5AE95-D235-47DB-BBEC-9B009F72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5. Готовый пакет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6FAD9-5378-46BF-88A3-607959740F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ee32d1c054a65"/>
          <a:stretch xmlns:a="http://schemas.openxmlformats.org/drawingml/2006/main"/>
        </p:blipFill>
        <p:spPr>
          <a:xfrm xmlns:a="http://schemas.openxmlformats.org/drawingml/2006/main">
            <a:off x="495300" y="1476375"/>
            <a:ext cx="11201400" cy="1664908"/>
          </a:xfrm>
          <a:prstGeom xmlns:a="http://schemas.openxmlformats.org/drawingml/2006/main" prst="rect">
            <a:avLst/>
          </a:prstGeom>
        </p:spPr>
      </p:pic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C51EEC3-ADCB-439A-8C60-7E5A02C7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814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dump.sql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75E41A3-DD8B-43E1-99B2-F6DCDAC9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581400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Структура и данные PostgreSQL в формате COPY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860DA9F-1B5F-49B7-9B7B-E4F8AE9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00525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inserts.sql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D1E29E9-5307-4BB3-A5BA-A706A937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200525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Данные INSERT для существующих таблиц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BDFA57D-9A5E-4365-94F9-2C2EE5EB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csv/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EBF44FD-E010-4579-B967-6F8C06BF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19650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Те же данные в UTF-8 и manifest.json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E9FAB51A-C20C-4BDC-82D7-01444D4E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38775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report.json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3CF25F6D-CA62-4381-867B-B5F98A01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438775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Проверки, правила полей и предупреждения</a:t>
            </a:r>
          </a:p>
        </p:txBody>
      </p:sp>
    </p:spTree>
    <p:extLst>
      <p:ext uri="{BB962C8B-B14F-4D97-AF65-F5344CB8AC3E}">
        <p14:creationId xmlns:p14="http://schemas.microsoft.com/office/powerpoint/2010/main" val="1822961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7D771C-08DF-4CEB-8F48-1C276E2C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6. Отчёт и журнал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CEAD343-F1D1-43BC-867B-0B4C201D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Отчёт report.json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6876034-A7F2-4BF4-84C4-D3609751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66925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Нажмите «Открыть результат», затем откройте report.json в папке.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Проверьте число таблиц и строк, предупреждения по связям и список пропущенных таблиц.</a:t>
            </a:r>
          </a:p>
        </p:txBody>
      </p:sp>
      <p:sp>
        <p:nvSpPr>
          <p:cNvPr id="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AC3B8CF-E8EA-4B3D-9695-C812FBAD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0200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«Выгрузить журнал (CSV)»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050E294-DA1E-4BEA-A8F6-46F6346C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66925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После завершения сохраните журнал отдельным файлом. Он доступен и после ошибки или отмены.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В журнале указаны стадии, проверки и причины ошибок.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4630C8E-8687-43B9-8DC5-E678AD9F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1201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Непроверенная связь означает, что для неё не хватило данных. Исходные дефекты видны в отчёте и сами по себе не исправляются.</a:t>
            </a:r>
          </a:p>
        </p:txBody>
      </p:sp>
    </p:spTree>
    <p:extLst>
      <p:ext uri="{BB962C8B-B14F-4D97-AF65-F5344CB8AC3E}">
        <p14:creationId xmlns:p14="http://schemas.microsoft.com/office/powerpoint/2010/main" val="18229619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3A1B56-8D96-4570-94EA-B024F4E8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7. Повторный запуск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CFA2088-2B5C-4D08-A95A-265673F9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EB64AC2-57DE-49A2-8AB3-2C134813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57350"/>
            <a:ext cx="10134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Выберите новую выгрузку того же клиента.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D9F1427-2E85-49E0-B507-EF35B733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A7EFADF-6151-43A9-BE94-D15C0F59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10134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В «Локальный проект» нажмите «Открыть…» и выберите прежний .snpanon.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64B2B49-E8AA-44A4-A7AC-C55F7FE5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76650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7E790AE-8131-4EC0-93C7-A25B9A72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76650"/>
            <a:ext cx="10134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Укажите новую папку результата. Существующая папка не перезаписывается.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AE9F21C-D447-4483-B741-41AE12D0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86300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69D76BE6-6F4E-4E73-9BDB-BD91B866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10134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Запустите обработку. Для прежних значений приложение использует те же замены.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F6F852B7-0BB6-414F-8185-9C1CE18D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81700"/>
            <a:ext cx="1120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55B6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55B6B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555B6B"/>
                </a:solidFill>
                <a:latin typeface="Manrope"/>
                <a:ea typeface="Manrope"/>
                <a:cs typeface="Manrope"/>
              </a:rPr>
              <a:t>Для другого клиента создайте отдельный проект. Отрасль существующего проекта сохраняется.</a:t>
            </a:r>
          </a:p>
        </p:txBody>
      </p:sp>
    </p:spTree>
    <p:extLst>
      <p:ext uri="{BB962C8B-B14F-4D97-AF65-F5344CB8AC3E}">
        <p14:creationId xmlns:p14="http://schemas.microsoft.com/office/powerpoint/2010/main" val="1822961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036A8C-3C2A-46F5-9E3D-3B6978EF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Если обработка завершилась ошибкой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014C3C8-1094-469C-A326-D9A9AD5D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28775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Обычный порядок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474643B-0CC0-40FB-A4F6-40315E47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52197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Прочитайте сообщение и выгрузите журнал.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Исправьте причину во входе или настройках. Повторите запуск с тем же проектом и новой папкой результата.</a:t>
            </a:r>
          </a:p>
        </p:txBody>
      </p:sp>
      <p:sp>
        <p:nvSpPr>
          <p:cNvPr id="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3A03A9D-C0AC-41CF-A042-1E7FA557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28775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Пропуск ошибок входа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90ADAF5-FB9C-4283-A179-424991DD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2197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По необходимости включите «Пропускать таблицы с ошибками входа».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Ошибочная таблица исключается целиком. Сверьте skipped_tables в report.json и журнале.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E0C26AD-DE26-4B69-A952-3EB4F934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48275"/>
            <a:ext cx="11201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Пропуск таблиц не отменяет проверки обезличивания. Загрузка в PostgreSQL по-прежнему выполняется целиком.</a:t>
            </a:r>
          </a:p>
        </p:txBody>
      </p:sp>
    </p:spTree>
    <p:extLst>
      <p:ext uri="{BB962C8B-B14F-4D97-AF65-F5344CB8AC3E}">
        <p14:creationId xmlns:p14="http://schemas.microsoft.com/office/powerpoint/2010/main" val="18229619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2ECE8C-EE6B-4F18-80AE-6AADB162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8. Настройка PostgreSQL, по желанию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529FB-34D9-4FEB-B205-5E1F8F94E7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134e943ac4c1d"/>
          <a:stretch xmlns:a="http://schemas.openxmlformats.org/drawingml/2006/main"/>
        </p:blipFill>
        <p:spPr>
          <a:xfrm xmlns:a="http://schemas.openxmlformats.org/drawingml/2006/main">
            <a:off x="495300" y="1390650"/>
            <a:ext cx="11201400" cy="3609340"/>
          </a:xfrm>
          <a:prstGeom xmlns:a="http://schemas.openxmlformats.org/drawingml/2006/main" prst="rect">
            <a:avLst/>
          </a:prstGeom>
        </p:spPr>
      </p:pic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2FE26FB-ECBD-4D8A-A658-704ED75E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72075"/>
            <a:ext cx="11201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До запуска включите флажок и заполните хост, порт, базу, пользователя, пароль и целевую схему. Таблицы датасета должны уже существовать.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D306B99-2296-4445-BB77-47E04CC1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34100"/>
            <a:ext cx="1120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Загрузка заменит содержимое таблиц датасета в выбранной схеме.</a:t>
            </a:r>
          </a:p>
        </p:txBody>
      </p:sp>
    </p:spTree>
    <p:extLst>
      <p:ext uri="{BB962C8B-B14F-4D97-AF65-F5344CB8AC3E}">
        <p14:creationId xmlns:p14="http://schemas.microsoft.com/office/powerpoint/2010/main" val="18229619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26A5FE-4B1E-40FC-9683-F81BAD5D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9. Результат загрузки PostgreSQL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549BEA5-8280-42FC-A899-FFE05BB0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120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Успешная загрузка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728BF07-0C28-493F-8295-292A1B3D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28825"/>
            <a:ext cx="11201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Приложение подтверждает завершение. В report.json статус pg_commit_status равен committed.</a:t>
            </a:r>
          </a:p>
        </p:txBody>
      </p:sp>
      <p:sp>
        <p:nvSpPr>
          <p:cNvPr id="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A68B4D9-5179-4EB9-A247-CC09058B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1120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Ошибка до начала фиксации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7EDB708-36D1-4669-94E8-275FBB39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11201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PostgreSQL откатывает очистку и загрузку всего набора. Изучите журнал и устраните причину перед повтором.</a:t>
            </a:r>
          </a:p>
        </p:txBody>
      </p:sp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FC98111-C4EE-44C0-B1B6-3112AE95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48200"/>
            <a:ext cx="1120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Подтверждение фиксации потеряно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4959404-98C4-4DB3-B0D7-8B70D59D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112014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Сначала проверьте целевые таблицы. Исход загрузки неизвестен, пакет и проект сохранены. После начала фиксации «Отмена» не гарантирует откат.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6BC1E36-ACB0-488D-8A38-29AD8B8F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1120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5B6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55B6B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555B6B"/>
                </a:solidFill>
                <a:latin typeface="Manrope"/>
                <a:ea typeface="Manrope"/>
                <a:cs typeface="Manrope"/>
              </a:rPr>
              <a:t>При предупреждении об обновлении отчёта сверяйте сообщение приложения и журнал.</a:t>
            </a:r>
          </a:p>
        </p:txBody>
      </p:sp>
    </p:spTree>
    <p:extLst>
      <p:ext uri="{BB962C8B-B14F-4D97-AF65-F5344CB8AC3E}">
        <p14:creationId xmlns:p14="http://schemas.microsoft.com/office/powerpoint/2010/main" val="18229619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590F83-0086-423C-97AE-57754567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Что передать получателю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7424A-DF31-4D68-83CC-4DC4C66D5166}"/>
              </a:ext>
            </a:extLst>
          </p:cNvPr>
          <p:cNvGraphicFramePr/>
          <p:nvPr/>
        </p:nvGraphicFramePr>
        <p:xfrm>
          <a:off xmlns:a="http://schemas.openxmlformats.org/drawingml/2006/main" x="495300" y="1676400"/>
          <a:ext xmlns:a="http://schemas.openxmlformats.org/drawingml/2006/main" cx="112014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0350"/>
                <a:gridCol w="3371850"/>
                <a:gridCol w="5029200"/>
              </a:tblGrid>
              <a:tr h="8763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Артефакт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FEB"/>
                      </a:solidFill>
                      <a:prstDash val="solid"/>
                    </a:lnL>
                    <a:lnR w="9525">
                      <a:solidFill>
                        <a:srgbClr val="D9DFEB"/>
                      </a:solidFill>
                      <a:prstDash val="solid"/>
                    </a:lnR>
                    <a:lnT w="9525">
                      <a:solidFill>
                        <a:srgbClr val="D9DFEB"/>
                      </a:solidFill>
                      <a:prstDash val="solid"/>
                    </a:lnT>
                    <a:lnB w="9525">
                      <a:solidFill>
                        <a:srgbClr val="D9DFEB"/>
                      </a:solidFill>
                      <a:prstDash val="solid"/>
                    </a:lnB>
                    <a:solidFill>
                      <a:srgbClr val="4966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Действие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FEB"/>
                      </a:solidFill>
                      <a:prstDash val="solid"/>
                    </a:lnR>
                    <a:lnT w="9525">
                      <a:solidFill>
                        <a:srgbClr val="D9DFEB"/>
                      </a:solidFill>
                      <a:prstDash val="solid"/>
                    </a:lnT>
                    <a:lnB w="9525">
                      <a:solidFill>
                        <a:srgbClr val="D9DFEB"/>
                      </a:solidFill>
                      <a:prstDash val="solid"/>
                    </a:lnB>
                    <a:solidFill>
                      <a:srgbClr val="4966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Содержимое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FEB"/>
                      </a:solidFill>
                      <a:prstDash val="solid"/>
                    </a:lnR>
                    <a:lnT w="9525">
                      <a:solidFill>
                        <a:srgbClr val="D9DFEB"/>
                      </a:solidFill>
                      <a:prstDash val="solid"/>
                    </a:lnT>
                    <a:lnB w="9525">
                      <a:solidFill>
                        <a:srgbClr val="D9DFEB"/>
                      </a:solidFill>
                      <a:prstDash val="solid"/>
                    </a:lnB>
                    <a:solidFill>
                      <a:srgbClr val="4966FF"/>
                    </a:solidFill>
                  </a:tcPr>
                </a:tc>
              </a:tr>
              <a:tr h="8763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91638"/>
                          </a:solidFill>
                          <a:latin typeface="Manrope"/>
                          <a:ea typeface="Manrope"/>
                          <a:cs typeface="Manrope"/>
                        </a:rPr>
                        <a:t>Папка результата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FEB"/>
                      </a:solidFill>
                      <a:prstDash val="solid"/>
                    </a:lnL>
                    <a:lnR w="9525">
                      <a:solidFill>
                        <a:srgbClr val="D9DFEB"/>
                      </a:solidFill>
                      <a:prstDash val="solid"/>
                    </a:lnR>
                    <a:lnB w="9525">
                      <a:solidFill>
                        <a:srgbClr val="D9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91638"/>
                          </a:solidFill>
                          <a:latin typeface="Manrope"/>
                          <a:ea typeface="Manrope"/>
                          <a:cs typeface="Manrope"/>
                        </a:rPr>
                        <a:t>Передать после проверки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FEB"/>
                      </a:solidFill>
                      <a:prstDash val="solid"/>
                    </a:lnR>
                    <a:lnB w="9525">
                      <a:solidFill>
                        <a:srgbClr val="D9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91638"/>
                          </a:solidFill>
                          <a:latin typeface="Manrope"/>
                          <a:ea typeface="Manrope"/>
                          <a:cs typeface="Manrope"/>
                        </a:rPr>
                        <a:t>dump.sql, inserts.sql, csv/ и report.json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FEB"/>
                      </a:solidFill>
                      <a:prstDash val="solid"/>
                    </a:lnR>
                    <a:lnB w="9525">
                      <a:solidFill>
                        <a:srgbClr val="D9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91638"/>
                          </a:solidFill>
                          <a:latin typeface="Manrope"/>
                          <a:ea typeface="Manrope"/>
                          <a:cs typeface="Manrope"/>
                        </a:rPr>
                        <a:t>Проект .snpanon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FEB"/>
                      </a:solidFill>
                      <a:prstDash val="solid"/>
                    </a:lnL>
                    <a:lnR w="9525">
                      <a:solidFill>
                        <a:srgbClr val="D9DFEB"/>
                      </a:solidFill>
                      <a:prstDash val="solid"/>
                    </a:lnR>
                    <a:lnB w="9525">
                      <a:solidFill>
                        <a:srgbClr val="D9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91638"/>
                          </a:solidFill>
                          <a:latin typeface="Manrope"/>
                          <a:ea typeface="Manrope"/>
                          <a:cs typeface="Manrope"/>
                        </a:rPr>
                        <a:t>Оставить у владельца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FEB"/>
                      </a:solidFill>
                      <a:prstDash val="solid"/>
                    </a:lnR>
                    <a:lnB w="9525">
                      <a:solidFill>
                        <a:srgbClr val="D9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91638"/>
                          </a:solidFill>
                          <a:latin typeface="Manrope"/>
                          <a:ea typeface="Manrope"/>
                          <a:cs typeface="Manrope"/>
                        </a:rPr>
                        <a:t>Исходные значения и карта замен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FEB"/>
                      </a:solidFill>
                      <a:prstDash val="solid"/>
                    </a:lnR>
                    <a:lnB w="9525">
                      <a:solidFill>
                        <a:srgbClr val="D9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91638"/>
                          </a:solidFill>
                          <a:latin typeface="Manrope"/>
                          <a:ea typeface="Manrope"/>
                          <a:cs typeface="Manrope"/>
                        </a:rPr>
                        <a:t>Excel-карта .xlsx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FEB"/>
                      </a:solidFill>
                      <a:prstDash val="solid"/>
                    </a:lnL>
                    <a:lnR w="9525">
                      <a:solidFill>
                        <a:srgbClr val="D9DFEB"/>
                      </a:solidFill>
                      <a:prstDash val="solid"/>
                    </a:lnR>
                    <a:lnB w="9525">
                      <a:solidFill>
                        <a:srgbClr val="D9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91638"/>
                          </a:solidFill>
                          <a:latin typeface="Manrope"/>
                          <a:ea typeface="Manrope"/>
                          <a:cs typeface="Manrope"/>
                        </a:rPr>
                        <a:t>Оставить у владельца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FEB"/>
                      </a:solidFill>
                      <a:prstDash val="solid"/>
                    </a:lnR>
                    <a:lnB w="9525">
                      <a:solidFill>
                        <a:srgbClr val="D9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152400" rIns="152400" bIns="1524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91638"/>
                          </a:solidFill>
                          <a:latin typeface="Manrope"/>
                          <a:ea typeface="Manrope"/>
                          <a:cs typeface="Manrope"/>
                        </a:rPr>
                        <a:t>Исходные значения и замены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FEB"/>
                      </a:solidFill>
                      <a:prstDash val="solid"/>
                    </a:lnR>
                    <a:lnB w="9525">
                      <a:solidFill>
                        <a:srgbClr val="D9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92C9933-254A-419F-BDBE-51FF80E5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91175"/>
            <a:ext cx="11201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Перед отправкой убедитесь, что рядом с пакетом нет проекта, Excel-карты и исходной выгрузки.</a:t>
            </a:r>
          </a:p>
        </p:txBody>
      </p:sp>
    </p:spTree>
    <p:extLst>
      <p:ext uri="{BB962C8B-B14F-4D97-AF65-F5344CB8AC3E}">
        <p14:creationId xmlns:p14="http://schemas.microsoft.com/office/powerpoint/2010/main" val="18229619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3F26CF-24CC-4F37-8449-140F621D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Краткая памятка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C199F39-D491-4D13-AA0F-81F934C0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Данные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AAA9565-BF87-402C-AFB0-93423419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43050"/>
            <a:ext cx="866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Файл SQL / ZIP или папка CSV выбраны. Кодировка соответствует входу.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6DE5D29-1283-4CF1-AFF1-BBB2E336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Результат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1FFB1D7-E470-4E55-985E-E27F0E21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866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Указана новая папка, отдельно от проекта и Excel-карты.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1A7BA80-92A7-44E1-A72E-63D7F57D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194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Проект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9285E73-7D3A-4CDE-9714-9D523137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866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Для клиента создан или открыт свой .snpanon.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09DA02C-CDC5-484D-B8E0-C0DFCC23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57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Загрузка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A5CD4E4-DD86-44AC-8FC1-9B1811A9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57650"/>
            <a:ext cx="866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PostgreSQL выключен либо выбран нужный сервер и готовая схема.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B9F3E26C-F3D5-4588-8A44-3C183AC8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95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4966FF"/>
                </a:solidFill>
                <a:latin typeface="Manrope"/>
                <a:ea typeface="Manrope"/>
                <a:cs typeface="Manrope"/>
              </a:defRPr>
            </a:pPr>
            <a:r>
              <a:rPr sz="2000" b="1">
                <a:solidFill>
                  <a:srgbClr val="4966FF"/>
                </a:solidFill>
                <a:latin typeface="Manrope"/>
                <a:ea typeface="Manrope"/>
                <a:cs typeface="Manrope"/>
              </a:rPr>
              <a:t>Проверка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F3FAC9BE-84B5-431B-9424-40762895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95850"/>
            <a:ext cx="866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9163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91638"/>
                </a:solidFill>
                <a:latin typeface="Manrope"/>
                <a:ea typeface="Manrope"/>
                <a:cs typeface="Manrope"/>
              </a:rPr>
              <a:t>После «Готово» просмотрены отчёт, предупреждения и пропущенные таблицы.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F362D55C-28FF-42EB-BF33-6248E940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3125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5B6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55B6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555B6B"/>
                </a:solidFill>
                <a:latin typeface="Manrope"/>
                <a:ea typeface="Manrope"/>
                <a:cs typeface="Manrope"/>
              </a:rPr>
              <a:t>F1 или «Справка» в чёрной шапке открывает встроенную инструкцию.</a:t>
            </a:r>
          </a:p>
        </p:txBody>
      </p:sp>
    </p:spTree>
    <p:extLst>
      <p:ext uri="{BB962C8B-B14F-4D97-AF65-F5344CB8AC3E}">
        <p14:creationId xmlns:p14="http://schemas.microsoft.com/office/powerpoint/2010/main" val="1822961965"/>
      </p:ext>
    </p:extLst>
  </p:cSld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668FE"/>
      </a:dk2>
      <a:lt2>
        <a:srgbClr val="04153A"/>
      </a:lt2>
      <a:accent1>
        <a:srgbClr val="EC0183"/>
      </a:accent1>
      <a:accent2>
        <a:srgbClr val="A5236B"/>
      </a:accent2>
      <a:accent3>
        <a:srgbClr val="FF0017"/>
      </a:accent3>
      <a:accent4>
        <a:srgbClr val="FF8C00"/>
      </a:accent4>
      <a:accent5>
        <a:srgbClr val="A0A9B7"/>
      </a:accent5>
      <a:accent6>
        <a:srgbClr val="F3F6FB"/>
      </a:accent6>
      <a:hlink>
        <a:srgbClr val="EC0183"/>
      </a:hlink>
      <a:folHlink>
        <a:srgbClr val="A5236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2026-10-16T06:38:28.9550000Z</dcterms:created>
  <dcterms:modified xsi:type="dcterms:W3CDTF">2026-10-16T06:38:28.9560000Z</dcterms:modified>
</coreProperties>
</file>